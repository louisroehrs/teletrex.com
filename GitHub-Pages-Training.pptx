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Helvetica Neue"/>
              </a:rPr>
              <a:t>TRAINING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0" i="0">
                <a:solidFill>
                  <a:srgbClr val="FFFFFF"/>
                </a:solidFill>
                <a:latin typeface="Georgia"/>
              </a:rPr>
              <a:t>Deploy Your First Website
to GitHub Pages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4805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57534E"/>
                </a:solidFill>
                <a:latin typeface="Helvetica Neue"/>
              </a:rPr>
              <a:t>Manual deployment → automated with a Claude Code 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126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7380"/>
                </a:solidFill>
                <a:latin typeface="Helvetica Neue"/>
              </a:rPr>
              <a:t>TeleTrex  ·  Mountain View, 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8404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What we'll cover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8074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371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917"/>
                </a:solidFill>
                <a:latin typeface="Georgia"/>
              </a:rPr>
              <a:t>Part 1 — Manual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79222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7534E"/>
                </a:solidFill>
                <a:latin typeface="Helvetica Neue"/>
              </a:rPr>
              <a:t>Create a repo, push your code, enable GitHub Pages step by step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31720"/>
            <a:ext cx="457200" cy="457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4086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33172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917"/>
                </a:solidFill>
                <a:latin typeface="Georgia"/>
              </a:rPr>
              <a:t>Part 2 — Automate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52344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7534E"/>
                </a:solidFill>
                <a:latin typeface="Helvetica Neue"/>
              </a:rPr>
              <a:t>Build a /deploy-github-pages Claude Code skill that does all of Part 1 in one 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7534E"/>
                </a:solidFill>
                <a:latin typeface="Helvetica Neue"/>
              </a:rPr>
              <a:t>Prerequisites: a GitHub account, Git installed, and a text editor.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0A4A45"/>
                </a:solidFill>
                <a:latin typeface="Georgia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92608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0" i="0">
                <a:solidFill>
                  <a:srgbClr val="FFFFFF"/>
                </a:solidFill>
                <a:latin typeface="Georgia"/>
              </a:rPr>
              <a:t>The Manual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DD4BF"/>
                </a:solidFill>
                <a:latin typeface="Helvetica Neue"/>
              </a:rPr>
              <a:t>Six steps from zero to a live website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What is GitHub Pages?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1C1917"/>
                </a:solidFill>
                <a:latin typeface="Helvetica Neue"/>
              </a:rPr>
              <a:t>   Free static website hosting provided by GitHub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1C1917"/>
                </a:solidFill>
                <a:latin typeface="Helvetica Neue"/>
              </a:rPr>
              <a:t>   Serves HTML, CSS, JS and images directly from a repository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1C1917"/>
                </a:solidFill>
                <a:latin typeface="Helvetica Neue"/>
              </a:rPr>
              <a:t>   Instant HTTPS — no configuration needed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1C1917"/>
                </a:solidFill>
                <a:latin typeface="Helvetica Neue"/>
              </a:rPr>
              <a:t>   Custom domains supported (CNAME file)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1C1917"/>
                </a:solidFill>
                <a:latin typeface="Helvetica Neue"/>
              </a:rPr>
              <a:t>   Deploys automatically on every push to your chosen branch</a:t>
            </a:r>
          </a:p>
          <a:p>
            <a:pPr algn="l">
              <a:spcBef>
                <a:spcPts val="1000"/>
              </a:spcBef>
            </a:pPr>
            <a:r>
              <a:rPr sz="2000">
                <a:solidFill>
                  <a:srgbClr val="1C1917"/>
                </a:solidFill>
                <a:latin typeface="Helvetica Neue"/>
              </a:rPr>
              <a:t>   Free for public repos; private repos need GitHub Pro or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1280160"/>
            <a:ext cx="3246120" cy="3840480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1280160"/>
            <a:ext cx="50800" cy="38404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5544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Helvetica Neue"/>
              </a:rPr>
              <a:t>Your URL will 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96596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1917"/>
                </a:solidFill>
                <a:latin typeface="Georgia"/>
              </a:rPr>
              <a:t>username
.github.io
/repo-name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703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57534E"/>
                </a:solidFill>
                <a:latin typeface="Helvetica Neue"/>
              </a:rPr>
              <a:t>e.g. acme.github.io/landing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PREREQUISITES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Before you start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435608"/>
            <a:ext cx="54864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32588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  <a:latin typeface="Helvetica Neue"/>
              </a:rPr>
              <a:t>GitHub 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132588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Courier New"/>
              </a:rPr>
              <a:t>github.com/signup — free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647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258568"/>
            <a:ext cx="54864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14884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  <a:latin typeface="Helvetica Neue"/>
              </a:rPr>
              <a:t>Git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14884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Courier New"/>
              </a:rPr>
              <a:t>git-scm.com  or  brew install git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8775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081528"/>
            <a:ext cx="54864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97180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  <a:latin typeface="Helvetica Neue"/>
              </a:rPr>
              <a:t>GitHub CLI (gh)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97180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Courier New"/>
              </a:rPr>
              <a:t>cli.github.com  or  brew install gh  — optional but handy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41071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904488"/>
            <a:ext cx="54864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79476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  <a:latin typeface="Helvetica Neue"/>
              </a:rPr>
              <a:t>A text editor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79476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Courier New"/>
              </a:rPr>
              <a:t>VS Code, Cursor, Notepad — anything works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23367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727448"/>
            <a:ext cx="54864" cy="274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617720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C1917"/>
                </a:solidFill>
                <a:latin typeface="Helvetica Neue"/>
              </a:rPr>
              <a:t>A 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4617720"/>
            <a:ext cx="6675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Courier New"/>
              </a:rPr>
              <a:t>Terminal.app, iTerm, Windows Terminal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505663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STEP 1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Create your HTML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7534E"/>
                </a:solidFill>
                <a:latin typeface="Helvetica Neue"/>
              </a:rPr>
              <a:t>Create a folder for your project and add a file named index.html — GitHub Pages serves this as your homepage.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965960"/>
            <a:ext cx="10698480" cy="4389120"/>
          </a:xfrm>
          <a:prstGeom prst="rect">
            <a:avLst/>
          </a:prstGeom>
          <a:solidFill>
            <a:srgbClr val="13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148840"/>
            <a:ext cx="1014984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&lt;!-- index.html --&gt;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&lt;!DOCTYPE html&gt;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&lt;html lang="en"&gt;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&lt;head&gt;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&lt;meta charset="UTF-8" /&gt;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&lt;title&gt;My First Site&lt;/title&gt;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&lt;/head&gt;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&lt;body&gt;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&lt;h1&gt;Hello from GitHub Pages!&lt;/h1&gt;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&lt;p&gt;My first live website.&lt;/p&gt;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&lt;/body&gt;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&lt;/html&gt;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92240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97A16"/>
                </a:solidFill>
                <a:latin typeface="Helvetica Neue"/>
              </a:rPr>
              <a:t>⚠  The file must be named exactly index.html (all lowercase). Any other name won't be served automatically.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STEP 2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Initialize a Git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7534E"/>
                </a:solidFill>
                <a:latin typeface="Helvetica Neue"/>
              </a:rPr>
              <a:t>In your terminal, navigate to your project folder and run: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6858000" cy="4663440"/>
          </a:xfrm>
          <a:prstGeom prst="rect">
            <a:avLst/>
          </a:prstGeom>
          <a:solidFill>
            <a:srgbClr val="13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630936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Navigate to your project folder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cd ~/projects/my-site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Initialise a new git repository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init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Stage all files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add 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Create your first commit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commit -m "Initial commit"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79" y="1828800"/>
            <a:ext cx="3520440" cy="2926080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955279" y="1828800"/>
            <a:ext cx="50800" cy="29260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Helvetica Neue"/>
              </a:rPr>
              <a:t>What this does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468880"/>
            <a:ext cx="3108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C1917"/>
                </a:solidFill>
                <a:latin typeface="Helvetica Neue"/>
              </a:rPr>
              <a:t>• git init — creates a hidden .git folder that tracks changes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1C1917"/>
                </a:solidFill>
                <a:latin typeface="Helvetica Neue"/>
              </a:rPr>
              <a:t>• git add . — stages every file in the folder</a:t>
            </a:r>
          </a:p>
          <a:p>
            <a:pPr algn="l">
              <a:spcBef>
                <a:spcPts val="600"/>
              </a:spcBef>
            </a:pPr>
            <a:r>
              <a:rPr sz="1300">
                <a:solidFill>
                  <a:srgbClr val="1C1917"/>
                </a:solidFill>
                <a:latin typeface="Helvetica Neue"/>
              </a:rPr>
              <a:t>• git commit — saves a snapshot you can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STEP 3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Create a GitHub repository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  <a:latin typeface="Georgia"/>
              </a:rPr>
              <a:t>Option A — GitHub website (UI)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50292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>
                <a:solidFill>
                  <a:srgbClr val="1C1917"/>
                </a:solidFill>
                <a:latin typeface="Helvetica Neue"/>
              </a:rPr>
              <a:t>   Go to github.com and sign in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C1917"/>
                </a:solidFill>
                <a:latin typeface="Helvetica Neue"/>
              </a:rPr>
              <a:t>   Click  +  →  New repository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C1917"/>
                </a:solidFill>
                <a:latin typeface="Helvetica Neue"/>
              </a:rPr>
              <a:t>   Name it  my-site  (or anything you like)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C1917"/>
                </a:solidFill>
                <a:latin typeface="Helvetica Neue"/>
              </a:rPr>
              <a:t>   Set visibility to Public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C1917"/>
                </a:solidFill>
                <a:latin typeface="Helvetica Neue"/>
              </a:rPr>
              <a:t>   Do NOT initialise with a README</a:t>
            </a:r>
          </a:p>
          <a:p>
            <a:pPr algn="l">
              <a:spcBef>
                <a:spcPts val="500"/>
              </a:spcBef>
            </a:pPr>
            <a:r>
              <a:rPr sz="1600">
                <a:solidFill>
                  <a:srgbClr val="1C1917"/>
                </a:solidFill>
                <a:latin typeface="Helvetica Neue"/>
              </a:rPr>
              <a:t>   Click  Create repository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234440"/>
            <a:ext cx="12700" cy="530352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61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766E"/>
                </a:solidFill>
                <a:latin typeface="Georgia"/>
              </a:rPr>
              <a:t>Option B — GitHub CLI (faster)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If you have gh installed and authenticated: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2194560"/>
            <a:ext cx="5349240" cy="3840480"/>
          </a:xfrm>
          <a:prstGeom prst="rect">
            <a:avLst/>
          </a:prstGeom>
          <a:solidFill>
            <a:srgbClr val="13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2377440"/>
            <a:ext cx="4800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One command creates the repo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gh repo create my-site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--public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--source=.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--remote=origin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--push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# Then skip to slide 10!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STEP 4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Push your code to GitHub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57534E"/>
                </a:solidFill>
                <a:latin typeface="Helvetica Neue"/>
              </a:rPr>
              <a:t>Connect your local repo to GitHub, then push. Copy the URL from the repo page you just created.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8046720" cy="4480560"/>
          </a:xfrm>
          <a:prstGeom prst="rect">
            <a:avLst/>
          </a:prstGeom>
          <a:solidFill>
            <a:srgbClr val="13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57399"/>
            <a:ext cx="74980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Add GitHub as the remote named 'origin'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remote add origin https://github.com/YOU/my-site.git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Rename the default branch to 'main' (GitHub's default)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branch -M main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Push and set upstream tracking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git push -u origin main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Future pushes are just: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git push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52560" y="1874519"/>
            <a:ext cx="2514600" cy="2011680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52560" y="1874519"/>
            <a:ext cx="50800" cy="2011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35440" y="2103120"/>
            <a:ext cx="2148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C1917"/>
                </a:solidFill>
                <a:latin typeface="Helvetica Neue"/>
              </a:rPr>
              <a:t>Replace YOU with
your GitHub username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STEP 5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Enable GitHub 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C1917"/>
                </a:solidFill>
                <a:latin typeface="Georgia"/>
              </a:rPr>
              <a:t>Option A — GitHub website (UI)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71907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74650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74650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Helvetica Neue"/>
              </a:rPr>
              <a:t>Open your repo on github.com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235915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" y="238658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8658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Helvetica Neue"/>
              </a:rPr>
              <a:t>Click  Settings  (top tab row)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299923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302666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02666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Helvetica Neue"/>
              </a:rPr>
              <a:t>Scroll to  Pages  in the left sidebar</a:t>
            </a:r>
          </a:p>
        </p:txBody>
      </p:sp>
      <p:sp>
        <p:nvSpPr>
          <p:cNvPr id="18" name="Oval 17"/>
          <p:cNvSpPr/>
          <p:nvPr/>
        </p:nvSpPr>
        <p:spPr>
          <a:xfrm>
            <a:off x="731520" y="363931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366674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6667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Helvetica Neue"/>
              </a:rPr>
              <a:t>Under Source, select  "Deploy from a branch"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27939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430682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30682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Helvetica Neue"/>
              </a:rPr>
              <a:t>Branch: main  /  Folder: / (root)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491947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" y="494690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494690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C1917"/>
                </a:solidFill>
                <a:latin typeface="Helvetica Neue"/>
              </a:rPr>
              <a:t>Click  Save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234440"/>
            <a:ext cx="12700" cy="530352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126187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F766E"/>
                </a:solidFill>
                <a:latin typeface="Georgia"/>
              </a:rPr>
              <a:t>Option B — GitHub CLI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1783080"/>
            <a:ext cx="5349240" cy="4572000"/>
          </a:xfrm>
          <a:prstGeom prst="rect">
            <a:avLst/>
          </a:prstGeom>
          <a:solidFill>
            <a:srgbClr val="13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1965960"/>
            <a:ext cx="48006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Enable Pages via the gh CLI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gh api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-X POST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/repos/YOU/my-site/pages \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  -f source[branch]=main \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  -f source[path]=/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Check deployment status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gh api /repos/YOU/my-site/pages \</a:t>
            </a:r>
          </a:p>
          <a:p>
            <a:r>
              <a:rPr sz="1500">
                <a:solidFill>
                  <a:srgbClr val="61AFEF"/>
                </a:solidFill>
                <a:latin typeface="Courier New"/>
              </a:rPr>
              <a:t>  --jq '.html_url'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D4BF"/>
                </a:solidFill>
                <a:latin typeface="Helvetica Neue"/>
              </a:rPr>
              <a:t>STEP 6 OF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0" i="0">
                <a:solidFill>
                  <a:srgbClr val="FFFFFF"/>
                </a:solidFill>
                <a:latin typeface="Georgia"/>
              </a:rPr>
              <a:t>Your site is live. 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57534E"/>
                </a:solidFill>
                <a:latin typeface="Helvetica Neue"/>
              </a:rPr>
              <a:t>Visit it at: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977639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4EC9A0"/>
                </a:solidFill>
                <a:latin typeface="Courier New"/>
              </a:rPr>
              <a:t>https://YOUR-USERNAME.github.io/my-site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80060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57534E"/>
                </a:solidFill>
                <a:latin typeface="Helvetica Neue"/>
              </a:rPr>
              <a:t>   It takes ~60 seconds for the first deployment to go live</a:t>
            </a:r>
          </a:p>
          <a:p>
            <a:pPr algn="l">
              <a:spcBef>
                <a:spcPts val="800"/>
              </a:spcBef>
            </a:pPr>
            <a:r>
              <a:rPr sz="1800">
                <a:solidFill>
                  <a:srgbClr val="57534E"/>
                </a:solidFill>
                <a:latin typeface="Helvetica Neue"/>
              </a:rPr>
              <a:t>   Check the  Actions  tab in your repo to watch the deploy progress</a:t>
            </a:r>
          </a:p>
          <a:p>
            <a:pPr algn="l">
              <a:spcBef>
                <a:spcPts val="800"/>
              </a:spcBef>
            </a:pPr>
            <a:r>
              <a:rPr sz="1800">
                <a:solidFill>
                  <a:srgbClr val="57534E"/>
                </a:solidFill>
                <a:latin typeface="Helvetica Neue"/>
              </a:rPr>
              <a:t>   Every git push to main will auto-redeploy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TROUBLESHOOTING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Common gotchas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54864" cy="292608"/>
          </a:xfrm>
          <a:prstGeom prst="rect">
            <a:avLst/>
          </a:prstGeom>
          <a:solidFill>
            <a:srgbClr val="D9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280160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1917"/>
                </a:solidFill>
                <a:latin typeface="Helvetica Neue"/>
              </a:rPr>
              <a:t>File named wrong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280160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Must be exactly  index.html  — not  Index.html,  home.html,  or  index.htm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1737360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176272"/>
            <a:ext cx="54864" cy="292608"/>
          </a:xfrm>
          <a:prstGeom prst="rect">
            <a:avLst/>
          </a:prstGeom>
          <a:solidFill>
            <a:srgbClr val="D9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084832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1917"/>
                </a:solidFill>
                <a:latin typeface="Helvetica Neue"/>
              </a:rPr>
              <a:t>Repo is private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84832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GitHub Pages on private repos requires GitHub Pro, Team, or Enterprise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54203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980944"/>
            <a:ext cx="54864" cy="292608"/>
          </a:xfrm>
          <a:prstGeom prst="rect">
            <a:avLst/>
          </a:prstGeom>
          <a:solidFill>
            <a:srgbClr val="D9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2889504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1917"/>
                </a:solidFill>
                <a:latin typeface="Helvetica Neue"/>
              </a:rPr>
              <a:t>Site not updated yet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89504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First deploy takes ~60 s. After that, changes propagate in 1–2 minutes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46704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85616"/>
            <a:ext cx="54864" cy="292608"/>
          </a:xfrm>
          <a:prstGeom prst="rect">
            <a:avLst/>
          </a:prstGeom>
          <a:solidFill>
            <a:srgbClr val="D9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694176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1917"/>
                </a:solidFill>
                <a:latin typeface="Helvetica Neue"/>
              </a:rPr>
              <a:t>404 on all pages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694176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Pages is enabled but pointing at the wrong branch or folder — re-check Settings → Pages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151376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590288"/>
            <a:ext cx="54864" cy="292608"/>
          </a:xfrm>
          <a:prstGeom prst="rect">
            <a:avLst/>
          </a:prstGeom>
          <a:solidFill>
            <a:srgbClr val="D9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44988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C1917"/>
                </a:solidFill>
                <a:latin typeface="Helvetica Neue"/>
              </a:rPr>
              <a:t>Authentication error on push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498848"/>
            <a:ext cx="6949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Run  gh auth login  or create a Personal Access Token at github.com/settings/tokens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956048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0A4A45"/>
                </a:solidFill>
                <a:latin typeface="Georgia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880360"/>
            <a:ext cx="10058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Georgia"/>
              </a:rPr>
              <a:t>Automate It with
a Claude Code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57534E"/>
                </a:solidFill>
                <a:latin typeface="Helvetica Neue"/>
              </a:rPr>
              <a:t>One command. All six steps.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What is a Claude Code skill?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98448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>
                <a:solidFill>
                  <a:srgbClr val="1C1917"/>
                </a:solidFill>
                <a:latin typeface="Helvetica Neue"/>
              </a:rPr>
              <a:t>   A custom  /slash-command  you define for Claude Code</a:t>
            </a:r>
          </a:p>
          <a:p>
            <a:pPr algn="l">
              <a:spcBef>
                <a:spcPts val="1000"/>
              </a:spcBef>
            </a:pPr>
            <a:r>
              <a:rPr sz="1900">
                <a:solidFill>
                  <a:srgbClr val="1C1917"/>
                </a:solidFill>
                <a:latin typeface="Helvetica Neue"/>
              </a:rPr>
              <a:t>   Stored as a Markdown file in  ~/.claude/commands/  (user-wide) or  .claude/commands/  (per-project)</a:t>
            </a:r>
          </a:p>
          <a:p>
            <a:pPr algn="l">
              <a:spcBef>
                <a:spcPts val="1000"/>
              </a:spcBef>
            </a:pPr>
            <a:r>
              <a:rPr sz="1900">
                <a:solidFill>
                  <a:srgbClr val="1C1917"/>
                </a:solidFill>
                <a:latin typeface="Helvetica Neue"/>
              </a:rPr>
              <a:t>   When invoked, Claude reads the file and follows the instructions — it can run shell commands, edit files, call APIs</a:t>
            </a:r>
          </a:p>
          <a:p>
            <a:pPr algn="l">
              <a:spcBef>
                <a:spcPts val="1000"/>
              </a:spcBef>
            </a:pPr>
            <a:r>
              <a:rPr sz="1900">
                <a:solidFill>
                  <a:srgbClr val="1C1917"/>
                </a:solidFill>
                <a:latin typeface="Helvetica Neue"/>
              </a:rPr>
              <a:t>   Accepts optional  $ARGUMENTS  so you can parameterize the command</a:t>
            </a:r>
          </a:p>
          <a:p>
            <a:pPr algn="l">
              <a:spcBef>
                <a:spcPts val="1000"/>
              </a:spcBef>
            </a:pPr>
            <a:r>
              <a:rPr sz="1900">
                <a:solidFill>
                  <a:srgbClr val="1C1917"/>
                </a:solidFill>
                <a:latin typeface="Helvetica Neue"/>
              </a:rPr>
              <a:t>   No plugin system, no build step — just a .md 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61872"/>
            <a:ext cx="3429000" cy="3200400"/>
          </a:xfrm>
          <a:prstGeom prst="rect">
            <a:avLst/>
          </a:prstGeom>
          <a:solidFill>
            <a:srgbClr val="13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138160" y="1261872"/>
            <a:ext cx="3429000" cy="3200400"/>
          </a:xfrm>
          <a:prstGeom prst="rect">
            <a:avLst/>
          </a:prstGeom>
          <a:solidFill>
            <a:srgbClr val="13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444752"/>
            <a:ext cx="2880360" cy="2834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~/.claude/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└── commands/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    ├── deploy-github-pages.md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 ├── create-pr.md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 └── run-tests.md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7534E"/>
                </a:solidFill>
                <a:latin typeface="Helvetica Neue"/>
              </a:rPr>
              <a:t>Invoke it in Claude Code: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5989320"/>
            <a:ext cx="10698480" cy="685800"/>
          </a:xfrm>
          <a:prstGeom prst="rect">
            <a:avLst/>
          </a:prstGeom>
          <a:solidFill>
            <a:srgbClr val="13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6172200"/>
            <a:ext cx="10149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FFFFFF"/>
                </a:solidFill>
                <a:latin typeface="Courier New"/>
              </a:rPr>
              <a:t>/deploy-github-pages my-landing-page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What the skill does — step by 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1289304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316736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917"/>
                </a:solidFill>
                <a:latin typeface="Helvetica Neue"/>
              </a:rPr>
              <a:t>Check prerequisites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26187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Verifies git and gh are installed and gh is authenticated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737360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205740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084832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20299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917"/>
                </a:solidFill>
                <a:latin typeface="Helvetica Neue"/>
              </a:rPr>
              <a:t>Git init if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29968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Runs git init, git add ., git commit if no repo exists yet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505456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2825496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0664" y="2852928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89888" y="27980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917"/>
                </a:solidFill>
                <a:latin typeface="Helvetica Neue"/>
              </a:rPr>
              <a:t>Create GitHub repo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798064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gh repo create  — public, no README, sets origin remote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327355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359359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" y="3621024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356616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917"/>
                </a:solidFill>
                <a:latin typeface="Helvetica Neue"/>
              </a:rPr>
              <a:t>Push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566160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git push -u origin main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4041648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1520" y="4361688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0664" y="4389120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433425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917"/>
                </a:solidFill>
                <a:latin typeface="Helvetica Neue"/>
              </a:rPr>
              <a:t>Enable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334256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GitHub API call via gh api to activate Pages on main 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4809744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1520" y="5129784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5157216"/>
            <a:ext cx="484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89888" y="51023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C1917"/>
                </a:solidFill>
                <a:latin typeface="Helvetica Neue"/>
              </a:rPr>
              <a:t>Return live URL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10235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Polls until the site is live, then prints the URL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THE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deploy-github-pages.md — the skill 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188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F766E"/>
                </a:solidFill>
                <a:latin typeface="Courier New"/>
              </a:rPr>
              <a:t>Saved to  ~/.claude/commands/deploy-github-pages.md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45920"/>
            <a:ext cx="10698480" cy="5029200"/>
          </a:xfrm>
          <a:prstGeom prst="rect">
            <a:avLst/>
          </a:prstGeom>
          <a:solidFill>
            <a:srgbClr val="13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828800"/>
            <a:ext cx="10149840" cy="4663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---</a:t>
            </a:r>
          </a:p>
          <a:p>
            <a:r>
              <a:rPr sz="1500">
                <a:solidFill>
                  <a:srgbClr val="E5C07B"/>
                </a:solidFill>
                <a:latin typeface="Courier New"/>
              </a:rPr>
              <a:t>description: Deploy the current project to GitHub Pages</a:t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---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Deploy this project to GitHub Pages.</a:t>
            </a:r>
          </a:p>
          <a:p>
            <a:r>
              <a:rPr sz="1500">
                <a:solidFill>
                  <a:srgbClr val="61AFEF"/>
                </a:solidFill>
                <a:latin typeface="Courier New"/>
              </a:rPr>
              <a:t>Repo name (optional): $ARGUMENTS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1. Verify git is installed. If not, tell the user and stop.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2. Verify gh is installed and authenticated (gh auth status).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If not authenticated, run gh auth login and wait.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3. If no .git folder exists: git init, git add ., git commit.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4. If no remote 'origin': gh repo create $ARGUMENTS --public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--source=. --remote=origin --push, then skip step 5.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5. Otherwise: git push -u origin main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6. Enable Pages: gh api -X POST /repos/{owner}/{repo}/pages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-f source[branch]=main -f source[path]=/ (ignore 409).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7. Poll gh api /repos/{owner}/{repo}/pages --jq .html_url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   until it returns a URL. Print: 'Live at &lt;url&gt;'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766E"/>
                </a:solidFill>
                <a:latin typeface="Helvetica Neue"/>
              </a:rPr>
              <a:t>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0" i="0">
                <a:solidFill>
                  <a:srgbClr val="1C1917"/>
                </a:solidFill>
                <a:latin typeface="Georgia"/>
              </a:rPr>
              <a:t>How to use the skill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078992"/>
            <a:ext cx="10725912" cy="1270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57534E"/>
                </a:solidFill>
                <a:latin typeface="Helvetica Neue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61872"/>
            <a:ext cx="5212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1C1917"/>
                </a:solidFill>
                <a:latin typeface="Georgia"/>
              </a:rPr>
              <a:t>1. Install the skill (once)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755648"/>
            <a:ext cx="5212080" cy="2926080"/>
          </a:xfrm>
          <a:prstGeom prst="rect">
            <a:avLst/>
          </a:prstGeom>
          <a:solidFill>
            <a:srgbClr val="13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938528"/>
            <a:ext cx="46634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Create the commands directory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mkdir -p ~/.claude/commands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Copy the skill file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cp deploy-github-pages.md \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>   ~/.claude/commands/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234440"/>
            <a:ext cx="12700" cy="5303520"/>
          </a:xfrm>
          <a:prstGeom prst="rect">
            <a:avLst/>
          </a:prstGeom>
          <a:solidFill>
            <a:srgbClr val="E7E5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261872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F766E"/>
                </a:solidFill>
                <a:latin typeface="Georgia"/>
              </a:rPr>
              <a:t>2. Run it from any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5564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7534E"/>
                </a:solidFill>
                <a:latin typeface="Helvetica Neue"/>
              </a:rPr>
              <a:t>In Claude Code, just type: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176272"/>
            <a:ext cx="5349240" cy="2743200"/>
          </a:xfrm>
          <a:prstGeom prst="rect">
            <a:avLst/>
          </a:prstGeom>
          <a:solidFill>
            <a:srgbClr val="131A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359152"/>
            <a:ext cx="480060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6B7380"/>
                </a:solidFill>
                <a:latin typeface="Courier New"/>
              </a:rPr>
              <a:t># With an auto-generated name: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/deploy-github-pages</a:t>
            </a:r>
          </a:p>
          <a:p>
            <a:r>
              <a:rPr sz="1500">
                <a:solidFill>
                  <a:srgbClr val="FFFFFF"/>
                </a:solidFill>
                <a:latin typeface="Courier New"/>
              </a:rPr>
              <a:t/>
            </a:r>
          </a:p>
          <a:p>
            <a:r>
              <a:rPr sz="1500">
                <a:solidFill>
                  <a:srgbClr val="6B7380"/>
                </a:solidFill>
                <a:latin typeface="Courier New"/>
              </a:rPr>
              <a:t># Or specify the repo name:</a:t>
            </a:r>
          </a:p>
          <a:p>
            <a:r>
              <a:rPr sz="1500">
                <a:solidFill>
                  <a:srgbClr val="4EC9A0"/>
                </a:solidFill>
                <a:latin typeface="Courier New"/>
              </a:rPr>
              <a:t>/deploy-github-pages my-landing-page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50749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7534E"/>
                </a:solidFill>
                <a:latin typeface="Helvetica Neue"/>
              </a:rPr>
              <a:t>Claude will check prerequisites, create the repo,
push your code, enable Pages, and return your live URL — all without leaving your editor.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846320"/>
            <a:ext cx="10725912" cy="1691640"/>
          </a:xfrm>
          <a:prstGeom prst="rect">
            <a:avLst/>
          </a:prstGeom>
          <a:solidFill>
            <a:srgbClr val="F0FDFA"/>
          </a:solidFill>
          <a:ln>
            <a:solidFill>
              <a:srgbClr val="E7E5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846320"/>
            <a:ext cx="50800" cy="1691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074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C1917"/>
                </a:solidFill>
                <a:latin typeface="Georgia"/>
              </a:rPr>
              <a:t>Part 1 in a single command. Part 2 is just /deploy-github-pages.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532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57534E"/>
                </a:solidFill>
                <a:latin typeface="Helvetica Neue"/>
              </a:rPr>
              <a:t>The skill handles every edge case: no git repo, no remote, Pages already enabled — all gracefully.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1800"/>
            <a:ext cx="12188952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74519"/>
            <a:ext cx="5486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 i="0">
                <a:solidFill>
                  <a:srgbClr val="FFFFFF"/>
                </a:solidFill>
                <a:latin typeface="Georgia"/>
              </a:rPr>
              <a:t>TeleTrex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60320"/>
            <a:ext cx="9144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0" i="0">
                <a:solidFill>
                  <a:srgbClr val="FFFFFF"/>
                </a:solidFill>
                <a:latin typeface="Georgia"/>
              </a:rPr>
              <a:t>You're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9144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2DD4BF"/>
                </a:solidFill>
                <a:latin typeface="Helvetica Neue"/>
              </a:rPr>
              <a:t>   Manual: 6 steps, ~5 minutes, zero cost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2DD4BF"/>
                </a:solidFill>
                <a:latin typeface="Helvetica Neue"/>
              </a:rPr>
              <a:t>   Automated: /deploy-github-pages, ~30 seconds</a:t>
            </a:r>
          </a:p>
          <a:p>
            <a:pPr algn="l">
              <a:spcBef>
                <a:spcPts val="600"/>
              </a:spcBef>
            </a:pPr>
            <a:r>
              <a:rPr sz="1800">
                <a:solidFill>
                  <a:srgbClr val="2DD4BF"/>
                </a:solidFill>
                <a:latin typeface="Helvetica Neue"/>
              </a:rPr>
              <a:t>   Skill file lives in ~/.claude/commands/ — works in any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1722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4A45"/>
                </a:solidFill>
                <a:latin typeface="Helvetica Neue"/>
              </a:rPr>
              <a:t>teletrex.com  ·  Mountain View, 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6492240"/>
            <a:ext cx="3200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>
                <a:solidFill>
                  <a:srgbClr val="0F766E"/>
                </a:solidFill>
                <a:latin typeface="Helvetica Neue"/>
              </a:rPr>
              <a:t>https://teletrex.com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